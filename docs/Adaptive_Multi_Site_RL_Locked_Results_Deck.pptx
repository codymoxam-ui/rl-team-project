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locked results package: rl-locked-results.zip (fig1_learning_curves_h10_c0.0.png, fig2_performance_heatmap_h10_c0.0.png, fig5_switching_vs_cost_high_h10.png).
Prior visual structure reference: Adaptive_Multi_Site_RL_Final_Presentation (4).pptx.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Content synthesized from the user-provided prior draft and deck, updated to the locked result framing.
Prior content reference: Final_RL_Project_Submission_v2 (2).docx and Adaptive_Multi_Site_RL_Final_Presentation (4).pptx.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locked results package: fig6_qvalue_heatmap_high_h10.png.
Experiment design and MDP structure updated from the user-provided prior draft and deck.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locked results package: fig1_learning_curves_h10_c0.0.png.
Performance claims are read from the locked run figures and aligned with the companion draft.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locked results package: fig2_performance_heatmap_h10_c0.0.png, fig7_algorithm_gap_h10_c0.0.png.
Numerical annotations are taken from the heatmap values and the locked-run benchmark-gap chart.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locked results package: fig5_switching_vs_cost_high_h10.png.
Bullet values are taken from the locked run switching-cost curves.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locked results package: fig3_patient_state_dist_h10_c0.0.png, fig4_site_freq_high_h10_c0.0.png.
State-occupancy and site-frequency claims are summarized from the locked run figures and derived notes.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locked results package: fig8_h3_variance_h10_c0.0.png.
Hypothesis statuses are based on the locked-run figures and the updated draft interpretation.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Content based on the locked results package and the updated draft narrative.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3E74"/>
          </a:solidFill>
          <a:ln w="12700">
            <a:solidFill>
              <a:srgbClr val="173E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654710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C7784"/>
                </a:solidFill>
              </a:rPr>
              <a:t>EN.705.741.8VL Reinforcement Learning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C97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C97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914400"/>
            <a:ext cx="438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Multi-Site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73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Stimulation Control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73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RL in an MDP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77240" y="24231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D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sequential stimulation policies under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D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state-dependent EEG response dynamics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41605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Fatih Karatay and Cody Moxam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E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EN.705.741.8VL Reinforcement Learning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E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Locked-results draft • 7 April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23560" y="777240"/>
            <a:ext cx="56692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" name="Image 0" descr="/mnt/data/locked_results/rl-locked-results/figures/fig1_learning_curves_h10_c0.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076166"/>
            <a:ext cx="5303520" cy="1733868"/>
          </a:xfrm>
          <a:prstGeom prst="rect">
            <a:avLst/>
          </a:prstGeom>
        </p:spPr>
      </p:pic>
      <p:pic>
        <p:nvPicPr>
          <p:cNvPr id="7" name="Image 1" descr="/mnt/data/locked_results/rl-locked-results/figures/fig2_performance_heatmap_h10_c0.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3310502"/>
            <a:ext cx="2514600" cy="1608596"/>
          </a:xfrm>
          <a:prstGeom prst="rect">
            <a:avLst/>
          </a:prstGeom>
        </p:spPr>
      </p:pic>
      <p:pic>
        <p:nvPicPr>
          <p:cNvPr id="8" name="Image 2" descr="/mnt/data/locked_results/rl-locked-results/figures/fig5_switching_vs_cost_high_h1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3552367"/>
            <a:ext cx="2651760" cy="112486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852160" y="53949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i="1" dirty="0">
                <a:solidFill>
                  <a:srgbClr val="67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run: H=10, c_switch=0.0 figures now anchor the main story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C97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1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a reinforcement learning problem rather than a bandit</a:t>
            </a:r>
            <a:endParaRPr lang="en-US" sz="860" dirty="0"/>
          </a:p>
        </p:txBody>
      </p:sp>
      <p:sp>
        <p:nvSpPr>
          <p:cNvPr id="4" name="Text 2"/>
          <p:cNvSpPr/>
          <p:nvPr/>
        </p:nvSpPr>
        <p:spPr>
          <a:xfrm>
            <a:off x="11018520" y="1645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</a:rPr>
              <a:t>The agent selects among four stimulation sites S1–S4 over a finite horizon.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8680" y="1234440"/>
            <a:ext cx="448056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reward depends on the current patient responsiveness state and the EEG response it induces.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Responsiveness changes over time: repeated stimulation can push the patient from baseline to receptive to non-receptive.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actions change future state occupancy and future reward, the task is sequential control.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051560"/>
            <a:ext cx="2606040" cy="16002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18504" y="1179576"/>
            <a:ext cx="231343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behavior is not simply “choose the best site.”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“sequence sites to accumulate reward while avoiding state degradation.”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172200" y="28803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E74"/>
                </a:solidFill>
              </a:rPr>
              <a:t>State flow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172200" y="3127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2E3540"/>
                </a:solidFill>
              </a:rPr>
              <a:t>baseline  →  receptive  →  non-receptive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6172200" y="338328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772"/>
                </a:solidFill>
              </a:rPr>
              <a:t>switching promotes recovery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72200" y="388620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E74"/>
                </a:solidFill>
              </a:rPr>
              <a:t>Representative reward logic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172200" y="41330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E7D32"/>
                </a:solidFill>
              </a:rPr>
              <a:t>favorable</a:t>
            </a:r>
            <a:pPr indent="0" marL="0">
              <a:buNone/>
            </a:pPr>
            <a:r>
              <a:rPr lang="en-US" sz="1020" dirty="0">
                <a:solidFill>
                  <a:srgbClr val="333333"/>
                </a:solidFill>
              </a:rPr>
              <a:t> = +1   |   neutral = 0   |   </a:t>
            </a:r>
            <a:pPr indent="0" marL="0">
              <a:buNone/>
            </a:pPr>
            <a:r>
              <a:rPr lang="en-US" sz="1020" b="1" dirty="0">
                <a:solidFill>
                  <a:srgbClr val="C62828"/>
                </a:solidFill>
              </a:rPr>
              <a:t>unfavorable</a:t>
            </a:r>
            <a:pPr indent="0" marL="0">
              <a:buNone/>
            </a:pPr>
            <a:r>
              <a:rPr lang="en-US" sz="1020" dirty="0">
                <a:solidFill>
                  <a:srgbClr val="333333"/>
                </a:solidFill>
              </a:rPr>
              <a:t> = -1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6172200" y="435254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E6772"/>
                </a:solidFill>
              </a:rPr>
              <a:t>switch cost ∈ {0, 0.1, 0.25}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C97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 formulation and experimental design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1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Finite-horizon, fully observed environment with 90 total configurations</a:t>
            </a:r>
            <a:endParaRPr lang="en-US" sz="860" dirty="0"/>
          </a:p>
        </p:txBody>
      </p:sp>
      <p:sp>
        <p:nvSpPr>
          <p:cNvPr id="4" name="Text 2"/>
          <p:cNvSpPr/>
          <p:nvPr/>
        </p:nvSpPr>
        <p:spPr>
          <a:xfrm>
            <a:off x="11018520" y="1645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3E74"/>
                </a:solidFill>
              </a:rPr>
              <a:t>MDP components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078992"/>
            <a:ext cx="406908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A8B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84832" y="1078992"/>
            <a:ext cx="0" cy="362102"/>
          </a:xfrm>
          <a:prstGeom prst="line">
            <a:avLst/>
          </a:prstGeom>
          <a:noFill/>
          <a:ln w="12700">
            <a:solidFill>
              <a:srgbClr val="C5CD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17043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23344"/>
                </a:solidFill>
              </a:rPr>
              <a:t>State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2212848" y="1161288"/>
            <a:ext cx="2395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23344"/>
                </a:solidFill>
              </a:rPr>
              <a:t>(current site, patient state, t)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731520" y="1441094"/>
            <a:ext cx="4069080" cy="0"/>
          </a:xfrm>
          <a:prstGeom prst="line">
            <a:avLst/>
          </a:prstGeom>
          <a:noFill/>
          <a:ln w="12700">
            <a:solidFill>
              <a:srgbClr val="C5CD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84832" y="1441094"/>
            <a:ext cx="0" cy="362102"/>
          </a:xfrm>
          <a:prstGeom prst="line">
            <a:avLst/>
          </a:prstGeom>
          <a:noFill/>
          <a:ln w="12700">
            <a:solidFill>
              <a:srgbClr val="C5CD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153253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23344"/>
                </a:solidFill>
              </a:rPr>
              <a:t>Actions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2212848" y="1523390"/>
            <a:ext cx="2395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23344"/>
                </a:solidFill>
              </a:rPr>
              <a:t>{S1, S2, S3, S4}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731520" y="1803197"/>
            <a:ext cx="4069080" cy="0"/>
          </a:xfrm>
          <a:prstGeom prst="line">
            <a:avLst/>
          </a:prstGeom>
          <a:noFill/>
          <a:ln w="12700">
            <a:solidFill>
              <a:srgbClr val="C5CD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84832" y="1803197"/>
            <a:ext cx="0" cy="362102"/>
          </a:xfrm>
          <a:prstGeom prst="line">
            <a:avLst/>
          </a:prstGeom>
          <a:noFill/>
          <a:ln w="12700">
            <a:solidFill>
              <a:srgbClr val="C5CD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1894637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23344"/>
                </a:solidFill>
              </a:rPr>
              <a:t>Patient states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2212848" y="1885493"/>
            <a:ext cx="2395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23344"/>
                </a:solidFill>
              </a:rPr>
              <a:t>{baseline, receptive, non-receptive}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731520" y="2165299"/>
            <a:ext cx="4069080" cy="0"/>
          </a:xfrm>
          <a:prstGeom prst="line">
            <a:avLst/>
          </a:prstGeom>
          <a:noFill/>
          <a:ln w="12700">
            <a:solidFill>
              <a:srgbClr val="C5CD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84832" y="2165299"/>
            <a:ext cx="0" cy="362102"/>
          </a:xfrm>
          <a:prstGeom prst="line">
            <a:avLst/>
          </a:prstGeom>
          <a:noFill/>
          <a:ln w="12700">
            <a:solidFill>
              <a:srgbClr val="C5CD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2256739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23344"/>
                </a:solidFill>
              </a:rPr>
              <a:t>Observation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2212848" y="2247595"/>
            <a:ext cx="2395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23344"/>
                </a:solidFill>
              </a:rPr>
              <a:t>EEG ∈ {favorable, neutral, unfavorable}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731520" y="2527402"/>
            <a:ext cx="4069080" cy="0"/>
          </a:xfrm>
          <a:prstGeom prst="line">
            <a:avLst/>
          </a:prstGeom>
          <a:noFill/>
          <a:ln w="12700">
            <a:solidFill>
              <a:srgbClr val="C5CD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84832" y="2527402"/>
            <a:ext cx="0" cy="362102"/>
          </a:xfrm>
          <a:prstGeom prst="line">
            <a:avLst/>
          </a:prstGeom>
          <a:noFill/>
          <a:ln w="12700">
            <a:solidFill>
              <a:srgbClr val="C5CD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261884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23344"/>
                </a:solidFill>
              </a:rPr>
              <a:t>Reward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2212848" y="2609698"/>
            <a:ext cx="2395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23344"/>
                </a:solidFill>
              </a:rPr>
              <a:t>+1 / 0 / -1 with optional switch cost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731520" y="32461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3E74"/>
                </a:solidFill>
              </a:rPr>
              <a:t>Experiment grid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" y="3456432"/>
            <a:ext cx="411480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settings: high, moderate, low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horizons: H = 5 and H = 10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cost: 0, 0.1, 0.25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Algorithms: MC, Q-Learning, Expected SARSA, Double Q, Value Iteration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Model-free results averaged over 10 random seeds</a:t>
            </a:r>
            <a:endParaRPr lang="en-US" sz="1250" dirty="0"/>
          </a:p>
        </p:txBody>
      </p:sp>
      <p:pic>
        <p:nvPicPr>
          <p:cNvPr id="28" name="Image 0" descr="/mnt/data/locked_results/rl-locked-results/figures/fig6_qvalue_heatmap_high_h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2341" y="960120"/>
            <a:ext cx="3634518" cy="416052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5715000" y="53218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606F7B"/>
                </a:solidFill>
              </a:rPr>
              <a:t>Q* at t=0 (high separation, H=10): the optimal value surface is state-dependent, not static.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C97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performance improves with reward separability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1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learning curves for H=10 and c_switch=0.0</a:t>
            </a:r>
            <a:endParaRPr lang="en-US" sz="860" dirty="0"/>
          </a:p>
        </p:txBody>
      </p:sp>
      <p:sp>
        <p:nvSpPr>
          <p:cNvPr id="4" name="Text 2"/>
          <p:cNvSpPr/>
          <p:nvPr/>
        </p:nvSpPr>
        <p:spPr>
          <a:xfrm>
            <a:off x="11018520" y="1645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680" dirty="0"/>
          </a:p>
        </p:txBody>
      </p:sp>
      <p:pic>
        <p:nvPicPr>
          <p:cNvPr id="5" name="Image 0" descr="/mnt/data/locked_results/rl-locked-results/figures/fig1_learning_curves_h10_c0.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40545"/>
            <a:ext cx="10835640" cy="35424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" y="5047488"/>
            <a:ext cx="621792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61290" indent="-161290">
              <a:buSzPct val="100000"/>
              <a:buChar char="•"/>
            </a:pPr>
            <a:r>
              <a:rPr lang="en-US" sz="12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separation: TD methods converge quickly to strong positive return; Monte Carlo lags; Value Iteration is the upper bound.</a:t>
            </a:r>
            <a:endParaRPr lang="en-US" sz="1270" dirty="0"/>
          </a:p>
          <a:p>
            <a:pPr marL="161290" indent="-161290">
              <a:buSzPct val="100000"/>
              <a:buChar char="•"/>
            </a:pPr>
            <a:r>
              <a:rPr lang="en-US" sz="12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separation: the same ranking persists but compresses downward, showing the environment is still learnable but less informative.</a:t>
            </a:r>
            <a:endParaRPr lang="en-US" sz="1270" dirty="0"/>
          </a:p>
          <a:p>
            <a:pPr marL="161290" indent="-161290">
              <a:buSzPct val="100000"/>
              <a:buChar char="•"/>
            </a:pPr>
            <a:r>
              <a:rPr lang="en-US" sz="12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separation: all methods flatten near 1.8–2.0 while the benchmark sits around 2.34.</a:t>
            </a:r>
            <a:endParaRPr lang="en-US" sz="1270" dirty="0"/>
          </a:p>
        </p:txBody>
      </p:sp>
      <p:sp>
        <p:nvSpPr>
          <p:cNvPr id="7" name="Shape 4"/>
          <p:cNvSpPr/>
          <p:nvPr/>
        </p:nvSpPr>
        <p:spPr>
          <a:xfrm>
            <a:off x="7452360" y="4983480"/>
            <a:ext cx="361188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598664" y="5111496"/>
            <a:ext cx="3319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Locked-run takeaway: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clearer reward structure improves both convergence and final performance.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C97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Cross-setting performance and gap to optimal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1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and benchmark-gap view at H=10, c_switch=0.0</a:t>
            </a:r>
            <a:endParaRPr lang="en-US" sz="860" dirty="0"/>
          </a:p>
        </p:txBody>
      </p:sp>
      <p:sp>
        <p:nvSpPr>
          <p:cNvPr id="4" name="Text 2"/>
          <p:cNvSpPr/>
          <p:nvPr/>
        </p:nvSpPr>
        <p:spPr>
          <a:xfrm>
            <a:off x="11018520" y="1645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/ H4</a:t>
            </a:r>
            <a:endParaRPr lang="en-US" sz="680" dirty="0"/>
          </a:p>
        </p:txBody>
      </p:sp>
      <p:pic>
        <p:nvPicPr>
          <p:cNvPr id="5" name="Image 0" descr="/mnt/data/locked_results/rl-locked-results/figures/fig2_performance_heatmap_h10_c0.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96280"/>
            <a:ext cx="5577840" cy="3568159"/>
          </a:xfrm>
          <a:prstGeom prst="rect">
            <a:avLst/>
          </a:prstGeom>
        </p:spPr>
      </p:pic>
      <p:pic>
        <p:nvPicPr>
          <p:cNvPr id="6" name="Image 1" descr="/mnt/data/locked_results/rl-locked-results/figures/fig7_algorithm_gap_h10_c0.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14868"/>
            <a:ext cx="5120640" cy="28053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04672" y="5074920"/>
            <a:ext cx="105156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6210" indent="-156210">
              <a:buSzPct val="100000"/>
              <a:buChar char="•"/>
            </a:pPr>
            <a:r>
              <a:rPr lang="en-US" sz="12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Iteration reaches 5.235 / 3.880 / 2.340 in the high / moderate / low settings.</a:t>
            </a:r>
            <a:endParaRPr lang="en-US" sz="1230" dirty="0"/>
          </a:p>
          <a:p>
            <a:pPr marL="156210" indent="-156210">
              <a:buSzPct val="100000"/>
              <a:buChar char="•"/>
            </a:pPr>
            <a:r>
              <a:rPr lang="en-US" sz="12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SARSA is the strongest model-free method across all three settings: 4.674 / 3.323 / 1.965.</a:t>
            </a:r>
            <a:endParaRPr lang="en-US" sz="1230" dirty="0"/>
          </a:p>
          <a:p>
            <a:pPr marL="156210" indent="-156210">
              <a:buSzPct val="100000"/>
              <a:buChar char="•"/>
            </a:pPr>
            <a:r>
              <a:rPr lang="en-US" sz="12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optimality gap is the smallest across the board (≈0.56, 0.56, 0.38), while Monte Carlo remains furthest from optimal.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C97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cost shapes policy behavior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1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high-separation tradeoff at horizon=10</a:t>
            </a:r>
            <a:endParaRPr lang="en-US" sz="860" dirty="0"/>
          </a:p>
        </p:txBody>
      </p:sp>
      <p:sp>
        <p:nvSpPr>
          <p:cNvPr id="4" name="Text 2"/>
          <p:cNvSpPr/>
          <p:nvPr/>
        </p:nvSpPr>
        <p:spPr>
          <a:xfrm>
            <a:off x="11018520" y="1645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680" dirty="0"/>
          </a:p>
        </p:txBody>
      </p:sp>
      <p:pic>
        <p:nvPicPr>
          <p:cNvPr id="5" name="Image 0" descr="/mnt/data/locked_results/rl-locked-results/figures/fig5_switching_vs_cost_high_h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55614"/>
            <a:ext cx="7086600" cy="30061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01000" y="1188720"/>
            <a:ext cx="320040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147304" y="1316736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c_switch increases, switch frequency falls for every algorithm.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001000" y="2057400"/>
            <a:ext cx="320040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147304" y="2185416"/>
            <a:ext cx="29077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non-receptive occupancy rises at the same time: less switching can mean more state degradation.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046720" y="3383280"/>
            <a:ext cx="324612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44780" indent="-144780">
              <a:buSzPct val="100000"/>
              <a:buChar char="•"/>
            </a:pPr>
            <a:r>
              <a:rPr lang="en-US" sz="114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High-separation examples: Q-Learning drops from ~0.51 to ~0.30 switches/step as c_switch rises 0 → 0.25.</a:t>
            </a:r>
            <a:endParaRPr lang="en-US" sz="1140" dirty="0"/>
          </a:p>
          <a:p>
            <a:pPr marL="144780" indent="-144780">
              <a:buSzPct val="100000"/>
              <a:buChar char="•"/>
            </a:pPr>
            <a:r>
              <a:rPr lang="en-US" sz="114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SARSA falls from ~0.46 to ~0.27 and Double Q-Learning from ~0.47 to ~0.28 over the same range.</a:t>
            </a:r>
            <a:endParaRPr lang="en-US" sz="1140" dirty="0"/>
          </a:p>
          <a:p>
            <a:pPr marL="144780" indent="-144780">
              <a:buSzPct val="100000"/>
              <a:buChar char="•"/>
            </a:pPr>
            <a:r>
              <a:rPr lang="en-US" sz="114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supports H2 and reveals a real control tradeoff, not just a myopic penalty effect.</a:t>
            </a:r>
            <a:endParaRPr lang="en-US" sz="11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C97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learn state-aware sequential behavior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1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patterns and site choice explain how reward is sustained</a:t>
            </a:r>
            <a:endParaRPr lang="en-US" sz="860" dirty="0"/>
          </a:p>
        </p:txBody>
      </p:sp>
      <p:sp>
        <p:nvSpPr>
          <p:cNvPr id="4" name="Text 2"/>
          <p:cNvSpPr/>
          <p:nvPr/>
        </p:nvSpPr>
        <p:spPr>
          <a:xfrm>
            <a:off x="11018520" y="1645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</a:t>
            </a:r>
            <a:endParaRPr lang="en-US" sz="680" dirty="0"/>
          </a:p>
        </p:txBody>
      </p:sp>
      <p:pic>
        <p:nvPicPr>
          <p:cNvPr id="5" name="Image 0" descr="/mnt/data/locked_results/rl-locked-results/figures/fig3_patient_state_dist_h10_c0.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90999"/>
            <a:ext cx="5486400" cy="2010626"/>
          </a:xfrm>
          <a:prstGeom prst="rect">
            <a:avLst/>
          </a:prstGeom>
        </p:spPr>
      </p:pic>
      <p:pic>
        <p:nvPicPr>
          <p:cNvPr id="6" name="Image 1" descr="/mnt/data/locked_results/rl-locked-results/figures/fig4_site_freq_high_h10_c0.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1487021"/>
            <a:ext cx="5120640" cy="20551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" y="4526280"/>
            <a:ext cx="104241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4940" indent="-154940">
              <a:buSzPct val="100000"/>
              <a:buChar char="•"/>
            </a:pPr>
            <a:r>
              <a:rPr lang="en-US" sz="12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algorithms, baseline + receptive occupancy remains roughly 0.79–0.84 of episode time, while Value Iteration spends the least time in the non-receptive state.</a:t>
            </a:r>
            <a:endParaRPr lang="en-US" sz="1220" dirty="0"/>
          </a:p>
          <a:p>
            <a:pPr marL="154940" indent="-154940">
              <a:buSzPct val="100000"/>
              <a:buChar char="•"/>
            </a:pPr>
            <a:r>
              <a:rPr lang="en-US" sz="12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High-separation policies concentrate heavily on S1. Value Iteration is most aggressive (~77% on S1), while Monte Carlo remains more diffuse (~53% on S1).</a:t>
            </a:r>
            <a:endParaRPr lang="en-US" sz="1220" dirty="0"/>
          </a:p>
          <a:p>
            <a:pPr marL="154940" indent="-154940">
              <a:buSzPct val="100000"/>
              <a:buChar char="•"/>
            </a:pPr>
            <a:r>
              <a:rPr lang="en-US" sz="12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good policies do not simply hammer one action forever—they manage the state trajectory.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C97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comparison and stability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1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H3 diagnostic plus overall hypothesis assessment</a:t>
            </a:r>
            <a:endParaRPr lang="en-US" sz="860" dirty="0"/>
          </a:p>
        </p:txBody>
      </p:sp>
      <p:sp>
        <p:nvSpPr>
          <p:cNvPr id="4" name="Text 2"/>
          <p:cNvSpPr/>
          <p:nvPr/>
        </p:nvSpPr>
        <p:spPr>
          <a:xfrm>
            <a:off x="11018520" y="1645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680" dirty="0"/>
          </a:p>
        </p:txBody>
      </p:sp>
      <p:pic>
        <p:nvPicPr>
          <p:cNvPr id="5" name="Image 0" descr="/mnt/data/locked_results/rl-locked-results/figures/fig8_h3_variance_h10_c0.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32928"/>
            <a:ext cx="6309360" cy="25119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43800" y="1005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E74"/>
                </a:solidFill>
              </a:rPr>
              <a:t>Hypothesis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73E74"/>
                </a:solidFill>
              </a:rPr>
              <a:t>assessment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98080" y="16002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E74"/>
                </a:solidFill>
              </a:rPr>
              <a:t>H1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973568" y="1609344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73568" y="16230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</a:rPr>
              <a:t>Supported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9052560" y="15910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</a:rPr>
              <a:t>Higher separability improves convergence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</a:rPr>
              <a:t>and final return.</a:t>
            </a:r>
            <a:endParaRPr lang="en-US" sz="980" dirty="0"/>
          </a:p>
        </p:txBody>
      </p:sp>
      <p:sp>
        <p:nvSpPr>
          <p:cNvPr id="11" name="Text 8"/>
          <p:cNvSpPr/>
          <p:nvPr/>
        </p:nvSpPr>
        <p:spPr>
          <a:xfrm>
            <a:off x="7498080" y="225856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E74"/>
                </a:solidFill>
              </a:rPr>
              <a:t>H2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973568" y="2267712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73568" y="22814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</a:rPr>
              <a:t>Supported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9052560" y="22494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</a:rPr>
              <a:t>Increasing switch cost reduces switching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</a:rPr>
              <a:t>frequency.</a:t>
            </a:r>
            <a:endParaRPr lang="en-US" sz="980" dirty="0"/>
          </a:p>
        </p:txBody>
      </p:sp>
      <p:sp>
        <p:nvSpPr>
          <p:cNvPr id="15" name="Text 12"/>
          <p:cNvSpPr/>
          <p:nvPr/>
        </p:nvSpPr>
        <p:spPr>
          <a:xfrm>
            <a:off x="7498080" y="291693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E74"/>
                </a:solidFill>
              </a:rPr>
              <a:t>H3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973568" y="2926080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73568" y="29397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5A00"/>
                </a:solidFill>
              </a:rPr>
              <a:t>Mixed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9052560" y="29077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</a:rPr>
              <a:t>Double Q does not show a robust universal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</a:rPr>
              <a:t>stability win in this run.</a:t>
            </a:r>
            <a:endParaRPr lang="en-US" sz="980" dirty="0"/>
          </a:p>
        </p:txBody>
      </p:sp>
      <p:sp>
        <p:nvSpPr>
          <p:cNvPr id="19" name="Text 16"/>
          <p:cNvSpPr/>
          <p:nvPr/>
        </p:nvSpPr>
        <p:spPr>
          <a:xfrm>
            <a:off x="7498080" y="357530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E74"/>
                </a:solidFill>
              </a:rPr>
              <a:t>H4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973568" y="3584448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973568" y="35981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</a:rPr>
              <a:t>Supported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9052560" y="3566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</a:rPr>
              <a:t>Value Iteration remains a useful upper-bound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</a:rPr>
              <a:t>benchmark.</a:t>
            </a:r>
            <a:endParaRPr lang="en-US" sz="980" dirty="0"/>
          </a:p>
        </p:txBody>
      </p:sp>
      <p:sp>
        <p:nvSpPr>
          <p:cNvPr id="23" name="Text 20"/>
          <p:cNvSpPr/>
          <p:nvPr/>
        </p:nvSpPr>
        <p:spPr>
          <a:xfrm>
            <a:off x="7498080" y="42336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E74"/>
                </a:solidFill>
              </a:rPr>
              <a:t>H5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973568" y="4242816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973568" y="42565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</a:rPr>
              <a:t>Supported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9052560" y="42245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</a:rPr>
              <a:t>Policies learn sequential state-aware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</a:rPr>
              <a:t>behavior.</a:t>
            </a:r>
            <a:endParaRPr lang="en-US" sz="980" dirty="0"/>
          </a:p>
        </p:txBody>
      </p:sp>
      <p:sp>
        <p:nvSpPr>
          <p:cNvPr id="27" name="Text 24"/>
          <p:cNvSpPr/>
          <p:nvPr/>
        </p:nvSpPr>
        <p:spPr>
          <a:xfrm>
            <a:off x="804672" y="48463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D69"/>
                </a:solidFill>
              </a:rPr>
              <a:t>Locked-run read: moderate separation favors Double Q slightly, but the high and low settings remain very similar.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C97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 and limitations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1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locked run demonstrates and what remains simplified</a:t>
            </a:r>
            <a:endParaRPr lang="en-US" sz="860" dirty="0"/>
          </a:p>
        </p:txBody>
      </p:sp>
      <p:sp>
        <p:nvSpPr>
          <p:cNvPr id="4" name="Text 2"/>
          <p:cNvSpPr/>
          <p:nvPr/>
        </p:nvSpPr>
        <p:spPr>
          <a:xfrm>
            <a:off x="11018520" y="1645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822960" y="1005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E74"/>
                </a:solidFill>
              </a:rPr>
              <a:t>Key takeaways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68680" y="1325880"/>
            <a:ext cx="484632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62560" indent="-162560">
              <a:buSzPct val="100000"/>
              <a:buChar char="•"/>
            </a:pPr>
            <a:r>
              <a:rPr lang="en-US" sz="12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successfully turns stimulation-site selection into a genuine reinforcement learning problem.</a:t>
            </a:r>
            <a:endParaRPr lang="en-US" sz="1280" dirty="0"/>
          </a:p>
          <a:p>
            <a:pPr marL="162560" indent="-162560">
              <a:buSzPct val="100000"/>
              <a:buChar char="•"/>
            </a:pPr>
            <a:r>
              <a:rPr lang="en-US" sz="12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State-dependent responsiveness creates temporal coupling between current actions and future rewards.</a:t>
            </a:r>
            <a:endParaRPr lang="en-US" sz="1280" dirty="0"/>
          </a:p>
          <a:p>
            <a:pPr marL="162560" indent="-162560">
              <a:buSzPct val="100000"/>
              <a:buChar char="•"/>
            </a:pPr>
            <a:r>
              <a:rPr lang="en-US" sz="12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SARSA is the strongest model-free method in the locked run, but Value Iteration stays meaningfully higher.</a:t>
            </a:r>
            <a:endParaRPr lang="en-US" sz="1280" dirty="0"/>
          </a:p>
          <a:p>
            <a:pPr marL="162560" indent="-162560">
              <a:buSzPct val="100000"/>
              <a:buChar char="•"/>
            </a:pPr>
            <a:r>
              <a:rPr lang="en-US" sz="12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separability and switching cost jointly determine how easy the control problem is to learn.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6355080" y="1005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E74"/>
                </a:solidFill>
              </a:rPr>
              <a:t>Limitations and next steps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0800" y="1325880"/>
            <a:ext cx="480060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6210" indent="-156210">
              <a:buSzPct val="100000"/>
              <a:buChar char="•"/>
            </a:pPr>
            <a:r>
              <a:rPr lang="en-US" sz="12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transition and EEG response models are stylized rather than fit to clinical data.</a:t>
            </a:r>
            <a:endParaRPr lang="en-US" sz="1230" dirty="0"/>
          </a:p>
          <a:p>
            <a:pPr marL="156210" indent="-156210">
              <a:buSzPct val="100000"/>
              <a:buChar char="•"/>
            </a:pPr>
            <a:r>
              <a:rPr lang="en-US" sz="12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and observation spaces are discrete to keep the project interpretable.</a:t>
            </a:r>
            <a:endParaRPr lang="en-US" sz="1230" dirty="0"/>
          </a:p>
          <a:p>
            <a:pPr marL="156210" indent="-156210">
              <a:buSzPct val="100000"/>
              <a:buChar char="•"/>
            </a:pPr>
            <a:r>
              <a:rPr lang="en-US" sz="12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work is mainly deeper hypothesis checking, polishing, and final grading-criteria alignment—not a new project scope.</a:t>
            </a:r>
            <a:endParaRPr lang="en-US" sz="1230" dirty="0"/>
          </a:p>
          <a:p>
            <a:pPr marL="156210" indent="-156210">
              <a:buSzPct val="100000"/>
              <a:buChar char="•"/>
            </a:pPr>
            <a:r>
              <a:rPr lang="en-US" sz="12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natural extension is richer partial observability, which would recover a clinically motivated POMDP.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822960" y="4754880"/>
            <a:ext cx="103784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501091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6772"/>
                </a:solidFill>
              </a:rPr>
              <a:t>Bottom line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48840" y="4928616"/>
            <a:ext cx="8458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8"/>
                </a:solidFill>
              </a:rPr>
              <a:t>Optimal behavior is a sequence policy: choose where to stimulate now while managing how today’s action changes tomorrow’s reward.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C97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Multi-Site Stimulation Control Using RL in an MDP</dc:title>
  <dc:subject>Adaptive Multi-Site RL locked-results draft</dc:subject>
  <dc:creator>OpenAI</dc:creator>
  <cp:lastModifiedBy>OpenAI</cp:lastModifiedBy>
  <cp:revision>1</cp:revision>
  <dcterms:created xsi:type="dcterms:W3CDTF">2026-04-07T14:46:13Z</dcterms:created>
  <dcterms:modified xsi:type="dcterms:W3CDTF">2026-04-07T14:46:13Z</dcterms:modified>
</cp:coreProperties>
</file>